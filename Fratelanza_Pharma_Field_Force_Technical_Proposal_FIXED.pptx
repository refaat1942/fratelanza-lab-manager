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Segoe UI"/>
              </a:rPr>
              <a:t>FRATELANZA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1EAED7"/>
                </a:solidFill>
                <a:latin typeface="Segoe UI"/>
              </a:rPr>
              <a:t>Pharma Field Force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AEA"/>
                </a:solidFill>
                <a:latin typeface="Segoe UI"/>
              </a:rPr>
              <a:t>عرض فني ونطاق عمل مقترح لشركة أدوية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6675120" cy="192024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الهدف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إدارة المندوبين والزيارات والعملاء بشكل لحظي.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ربط الزيارات بالـ Sell-out والمبيعات والتحصيل.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منصة قرار متكاملة — Mobile + Web + ERP.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1776" y="3657600"/>
            <a:ext cx="54864" cy="19202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محتويات العرض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Technical Proposal Overview — 15 محوراً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2/18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1078992"/>
            <a:ext cx="5486400" cy="43891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1170432"/>
            <a:ext cx="365760" cy="365760"/>
          </a:xfrm>
          <a:prstGeom prst="ellipse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1152144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الرؤية والأهداف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1371600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من متابعة إلى منظومة قرار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1664208"/>
            <a:ext cx="365760" cy="365760"/>
          </a:xfrm>
          <a:prstGeom prst="ellipse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1645920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مكونات المنظومة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1865376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Mobile · Web ·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2066544"/>
            <a:ext cx="5486400" cy="43891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2139696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إدارة Field 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2359152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صلاحيات · مناطق · أهداف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2651760"/>
            <a:ext cx="365760" cy="365760"/>
          </a:xfrm>
          <a:prstGeom prst="ellipse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2633472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إدارة العملاء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2852928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Customer 360°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" y="3054096"/>
            <a:ext cx="5486400" cy="43891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" y="3145536"/>
            <a:ext cx="365760" cy="365760"/>
          </a:xfrm>
          <a:prstGeom prst="ellipse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3127248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Visit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3346704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دورة الزيارة الكاملة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" y="3639312"/>
            <a:ext cx="365760" cy="365760"/>
          </a:xfrm>
          <a:prstGeom prst="ellipse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3621024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Dynamic Visit 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3840480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نماذج حسب نوع العميل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" y="4041648"/>
            <a:ext cx="5486400" cy="43891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4360" y="4133088"/>
            <a:ext cx="365760" cy="365760"/>
          </a:xfrm>
          <a:prstGeom prst="ellipse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4114800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Sales &amp; Sell-out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4334256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تحليلات قابلة للتنفيذ</a:t>
            </a:r>
          </a:p>
        </p:txBody>
      </p:sp>
      <p:sp>
        <p:nvSpPr>
          <p:cNvPr id="36" name="Oval 35"/>
          <p:cNvSpPr/>
          <p:nvPr/>
        </p:nvSpPr>
        <p:spPr>
          <a:xfrm>
            <a:off x="594360" y="4626864"/>
            <a:ext cx="365760" cy="365760"/>
          </a:xfrm>
          <a:prstGeom prst="ellipse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" y="4608576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Collection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4828032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ربط التحصيل بالأداء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1928" y="1078992"/>
            <a:ext cx="5486400" cy="43891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55080" y="1170432"/>
            <a:ext cx="365760" cy="365760"/>
          </a:xfrm>
          <a:prstGeom prst="ellipse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1152144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Control Tower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1371600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من KPI إلى Action</a:t>
            </a:r>
          </a:p>
        </p:txBody>
      </p:sp>
      <p:sp>
        <p:nvSpPr>
          <p:cNvPr id="43" name="Oval 42"/>
          <p:cNvSpPr/>
          <p:nvPr/>
        </p:nvSpPr>
        <p:spPr>
          <a:xfrm>
            <a:off x="6355080" y="1664208"/>
            <a:ext cx="365760" cy="365760"/>
          </a:xfrm>
          <a:prstGeom prst="ellipse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1645920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Maps &amp; Offline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1865376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جاهز للعمل الميداني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81928" y="2066544"/>
            <a:ext cx="5486400" cy="43891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55080" y="2157984"/>
            <a:ext cx="365760" cy="365760"/>
          </a:xfrm>
          <a:prstGeom prst="ellipse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2139696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ERP Integration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2359152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ERP مصدر · التطبيق تشغيل</a:t>
            </a:r>
          </a:p>
        </p:txBody>
      </p:sp>
      <p:sp>
        <p:nvSpPr>
          <p:cNvPr id="50" name="Oval 49"/>
          <p:cNvSpPr/>
          <p:nvPr/>
        </p:nvSpPr>
        <p:spPr>
          <a:xfrm>
            <a:off x="6355080" y="2651760"/>
            <a:ext cx="365760" cy="365760"/>
          </a:xfrm>
          <a:prstGeom prst="ellipse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0568" y="2633472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التقارير و KPIs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2852928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مطابقة تقارير الشركة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81928" y="3054096"/>
            <a:ext cx="5486400" cy="43891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55080" y="3145536"/>
            <a:ext cx="365760" cy="365760"/>
          </a:xfrm>
          <a:prstGeom prst="ellipse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3127248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MVP &amp; Phase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0568" y="3346704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قيمة سريعة · توسع</a:t>
            </a:r>
          </a:p>
        </p:txBody>
      </p:sp>
      <p:sp>
        <p:nvSpPr>
          <p:cNvPr id="57" name="Oval 56"/>
          <p:cNvSpPr/>
          <p:nvPr/>
        </p:nvSpPr>
        <p:spPr>
          <a:xfrm>
            <a:off x="6355080" y="3639312"/>
            <a:ext cx="365760" cy="365760"/>
          </a:xfrm>
          <a:prstGeom prst="ellipse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3621024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خطة التنفيذ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0568" y="3840480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Deliverables · Acceptance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81928" y="4041648"/>
            <a:ext cx="5486400" cy="43891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55080" y="4133088"/>
            <a:ext cx="365760" cy="365760"/>
          </a:xfrm>
          <a:prstGeom prst="ellipse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0568" y="4114800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D3D"/>
                </a:solidFill>
                <a:latin typeface="Segoe UI"/>
              </a:rPr>
              <a:t>اعتماد Scope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30568" y="4334256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B7A"/>
                </a:solidFill>
                <a:latin typeface="Segoe UI"/>
              </a:rPr>
              <a:t>قبل التسعير النهائي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1. الرؤية والأهداف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من تطبيق متابعة إلى منظومة تشغيل وقرار.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3/18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Field Force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Users &amp; Roles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Territories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Targets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Route Plans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6" y="1143000"/>
            <a:ext cx="54864" cy="43434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Market Execution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Customers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Visits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GPS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Dynamic Forms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Feedback /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1143000"/>
            <a:ext cx="54864" cy="43434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Business Intelligence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Sales / Sell-out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Collection / Aging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Product Movement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KPIs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Action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40896" y="1143000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2. مكونات المنظومة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Mobile للمندوب + Web للإدارة + Integration للبيانات.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4/18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2062886" cy="530352"/>
          </a:xfrm>
          <a:prstGeom prst="round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Mobile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1838" y="1143000"/>
            <a:ext cx="2062886" cy="530352"/>
          </a:xfrm>
          <a:prstGeom prst="round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Backend /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9316" y="1143000"/>
            <a:ext cx="2062886" cy="530352"/>
          </a:xfrm>
          <a:prstGeom prst="round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ERP /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6795" y="1143000"/>
            <a:ext cx="2062886" cy="530352"/>
          </a:xfrm>
          <a:prstGeom prst="roundRect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4273" y="1143000"/>
            <a:ext cx="2062886" cy="530352"/>
          </a:xfrm>
          <a:prstGeom prst="round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874519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Mobile App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Today's Visits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Check-in / Check-out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Visit Forms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Photos / Tasks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Offline + Sync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874519"/>
            <a:ext cx="54864" cy="43434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1874519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Web Admin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Users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Customers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Products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Targets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Reports /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0416" y="1874519"/>
            <a:ext cx="54864" cy="43434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5320" y="1874519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Integration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Sales / Sell-out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Collection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ERP Sync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Validation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Export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40896" y="1874519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3. إدارة Field 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صلاحيات وهيكل جغرافي وأهداف.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5/18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Users &amp; Permissions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Super Admin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Management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Regional / Area Manager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Representative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صلاحيات حسب الدور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6" y="1143000"/>
            <a:ext cx="54864" cy="43434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Territories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Region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Area / Territory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Manager Assignment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Rep Assignment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Customer Assignment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1143000"/>
            <a:ext cx="54864" cy="43434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Targets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Sales Target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Visit Target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Collection Target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SKU Target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Achievement &amp; Ranking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40896" y="1143000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4. إدارة العملاء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Customer 360° للصيدليات والأطباء والمستشفيات.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6/18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Customer Master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Pharmacy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Doctor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Hospital / Clinic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Location &amp; Territory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Potential / 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6" y="1143000"/>
            <a:ext cx="54864" cy="43434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Pharma Data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Specialty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Product / Brand Focus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SKU Availability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Competitor Products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Competitor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1143000"/>
            <a:ext cx="54864" cy="43434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Customer History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Visits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Sales / Sell-out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Collection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Feedback / Complaints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Next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40896" y="1143000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5. Visit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الزيارة هي نقطة جمع البيانات الأساسية.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7/18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1691640" cy="530352"/>
          </a:xfrm>
          <a:prstGeom prst="round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1143000"/>
            <a:ext cx="1691640" cy="530352"/>
          </a:xfrm>
          <a:prstGeom prst="round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Navigate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143000"/>
            <a:ext cx="1691640" cy="530352"/>
          </a:xfrm>
          <a:prstGeom prst="round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Check-in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143000"/>
            <a:ext cx="1691640" cy="530352"/>
          </a:xfrm>
          <a:prstGeom prst="roundRect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Visit 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143000"/>
            <a:ext cx="1691640" cy="530352"/>
          </a:xfrm>
          <a:prstGeom prst="round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Check-out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143000"/>
            <a:ext cx="1691640" cy="530352"/>
          </a:xfrm>
          <a:prstGeom prst="round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Sync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874519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Planning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Daily / Weekly Route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Planned vs Actual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Unplanned Visit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Reschedule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Priority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59936" y="1874519"/>
            <a:ext cx="54864" cy="43434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1874519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Verification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GPS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Timestamp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Duration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Missed Reason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Anti-Fraud Rules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0416" y="1874519"/>
            <a:ext cx="54864" cy="43434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20" y="1874519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Visit Output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Stock / OOS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Feedback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Competitors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Complaint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Next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40896" y="1874519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6. Dynamic Visit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Forms قابلة للتعديل حسب نوع العميل والزيارة.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8/18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Sales &amp; Availability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Product Availability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Stock / OOS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Order Opportunity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Product Focus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6" y="1143000"/>
            <a:ext cx="54864" cy="43434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Market Intelligence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Competitor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Price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Offer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Display / Visibility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Market Feedback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1143000"/>
            <a:ext cx="54864" cy="4343400"/>
          </a:xfrm>
          <a:prstGeom prst="rect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Evidence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Live Camera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GPS + Timestamp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Visit ID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Attachments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Offline + Sync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40896" y="1143000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7. Sales &amp; Sell-out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التقارير تتحول إلى تحليل قابل للتنفيذ.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9/18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Sales Views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By SKU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By Brand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By Representative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By Territory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By Customer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6" y="1143000"/>
            <a:ext cx="54864" cy="43434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Product Movement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Top / Bottom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Fast / Slow Moving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Growth / Decline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No Movement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Out of Stock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1143000"/>
            <a:ext cx="54864" cy="43434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Comparisons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Current vs Previous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Rep vs Rep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Territory vs Territory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Target vs Achievement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Drill-down to SKU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40896" y="1143000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8. Collection &amp; Financial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ربط التحصيل بأداء المندوب والعملاء.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10/18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Collection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Target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Actual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By Representative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By Customer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By Territory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6" y="1143000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Receivables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Outstanding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Overdue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Aging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Follow-up Status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Collection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1143000"/>
            <a:ext cx="54864" cy="4343400"/>
          </a:xfrm>
          <a:prstGeom prst="rect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Integration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ERP Collection Sync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Payment Method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Receipt / Document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Validation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Excel / CSV Export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40896" y="1143000"/>
            <a:ext cx="54864" cy="43434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9. Management Control Tower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من KPI إلى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11/18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5394960" cy="214884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Live KPIs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Sales / Sell-out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Visits: Planned vs Actual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Collection / Overdue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Achievement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34456" y="1143000"/>
            <a:ext cx="54864" cy="214884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394960" cy="214884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Performance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Representative Ranking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Territory Performance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Top / Low Products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Customer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12296" y="1143000"/>
            <a:ext cx="54864" cy="21488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520440"/>
            <a:ext cx="5394960" cy="214884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Drill-down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Company → Region → Territory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→ Rep → Customer → SKU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Filters by Date / Area / Rep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4456" y="3520440"/>
            <a:ext cx="54864" cy="214884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520440"/>
            <a:ext cx="5394960" cy="214884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Action Required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Declining Sales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Missed / Low Coverage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Slow Moving / OOS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Overdue Collection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12296" y="3520440"/>
            <a:ext cx="54864" cy="2148840"/>
          </a:xfrm>
          <a:prstGeom prst="rect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10. Maps + Offline +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مصمم للعمل الميداني حتى مع ضعف الإنترنت.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12/18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Maps &amp; GPS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Customer Map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Visit Map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Territory Map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Check-in / Check-out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Planned vs Actual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6" y="1143000"/>
            <a:ext cx="54864" cy="43434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Offline-first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Work without Internet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Secure Local Storage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Background Sync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Retry on Failure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Sync 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1143000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Integrity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GPS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Timestamp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User / Visit ID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Live Camera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Audit Trail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40896" y="1143000"/>
            <a:ext cx="54864" cy="4343400"/>
          </a:xfrm>
          <a:prstGeom prst="rect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11. ERP &amp; Data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ERP مصدر البيانات؛ التطبيق يضيف التشغيل والتحكم.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13/18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2062886" cy="530352"/>
          </a:xfrm>
          <a:prstGeom prst="round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ERP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1838" y="1143000"/>
            <a:ext cx="2062886" cy="530352"/>
          </a:xfrm>
          <a:prstGeom prst="round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API / 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9316" y="1143000"/>
            <a:ext cx="2062886" cy="530352"/>
          </a:xfrm>
          <a:prstGeom prst="round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6795" y="1143000"/>
            <a:ext cx="2062886" cy="530352"/>
          </a:xfrm>
          <a:prstGeom prst="roundRect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Field Force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4273" y="1143000"/>
            <a:ext cx="2062886" cy="530352"/>
          </a:xfrm>
          <a:prstGeom prst="round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874519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Data In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Customers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Products / SKUs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Sales / Sell-out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Collection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874519"/>
            <a:ext cx="54864" cy="43434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34840" y="1874519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Integration Rules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Scheduled / API Sync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Validation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Duplicate Prevention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Error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0416" y="1874519"/>
            <a:ext cx="54864" cy="43434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5320" y="1874519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Data Out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Visits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Feedback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Market Intelligence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Evidence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40896" y="1874519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12. التقارير و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التقارير الحالية للشركة هي المرجع النهائي.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14/18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Sell-out / Products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Sell-out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Product Movement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Product Sales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Product Comparison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Fast / Slow Moving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6" y="1143000"/>
            <a:ext cx="54864" cy="43434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Field Force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Visits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Coverage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Rep Performance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Territory Performance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Feedback / Complaints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1143000"/>
            <a:ext cx="54864" cy="43434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1143000"/>
            <a:ext cx="3520440" cy="43434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Collection / Finance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Collection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Outstanding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Aging / Overdue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Collection by Rep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Target vs Achievement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40896" y="1143000"/>
            <a:ext cx="54864" cy="43434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13. MVP &amp;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نبدأ بالقيمة الأساسية مع Architecture قابلة للتوسع.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15/18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5394960" cy="45720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MVP — Release 1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Users / Roles / Territories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Customers / Doctors / Pharmacies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Products / SKUs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Route Plan + GPS Visit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Dynamic Forms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Sales / Sell-out + Collection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Dashboard + Core Reports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Offline + Sync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34456" y="1143000"/>
            <a:ext cx="54864" cy="45720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394960" cy="45720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Phase 2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Live Route Tracking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Advanced Incentives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Advanced Alerts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SKU / Product Targets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Advanced Segmentation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Smart Insights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Advanced Audit / Fraud Rules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Additional ERP Workflows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12296" y="1143000"/>
            <a:ext cx="54864" cy="4572000"/>
          </a:xfrm>
          <a:prstGeom prst="rect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14. خطة التنفيذ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كل مرحلة لها مخرجات و Acceptance Criteria.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16/18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5394960" cy="11430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01 Discovery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تحليل التقارير + Workshops + Final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34456" y="1143000"/>
            <a:ext cx="54864" cy="11430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560320"/>
            <a:ext cx="5394960" cy="11430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02 UX/UI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User Flows + Mobile + Web Prototype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34456" y="2560320"/>
            <a:ext cx="54864" cy="11430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977639"/>
            <a:ext cx="5394960" cy="11430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03 Architecture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DB + APIs + Integration + 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4456" y="3977639"/>
            <a:ext cx="54864" cy="114300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143000"/>
            <a:ext cx="5394960" cy="11430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04 Development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Mobile + Web + Backend +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12296" y="1143000"/>
            <a:ext cx="54864" cy="1143000"/>
          </a:xfrm>
          <a:prstGeom prst="rect">
            <a:avLst/>
          </a:prstGeom>
          <a:solidFill>
            <a:srgbClr val="EB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2560320"/>
            <a:ext cx="5394960" cy="11430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05 UAT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Beta + Test Cases + Fixes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12296" y="2560320"/>
            <a:ext cx="54864" cy="1143000"/>
          </a:xfrm>
          <a:prstGeom prst="rect">
            <a:avLst/>
          </a:prstGeom>
          <a:solidFill>
            <a:srgbClr val="1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3977639"/>
            <a:ext cx="5394960" cy="11430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06 Go-Live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Deployment + Training + Handover + Warranty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512296" y="3977639"/>
            <a:ext cx="54864" cy="11430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566928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10058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15. شروط اعتماد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B8C8D8"/>
                </a:solidFill>
                <a:latin typeface="Segoe UI"/>
              </a:rPr>
              <a:t>متطلبات قبل اعتماد السعر والجدول الزمني.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64808"/>
            <a:ext cx="12191695" cy="19050"/>
          </a:xfrm>
          <a:prstGeom prst="rect">
            <a:avLst/>
          </a:prstGeom>
          <a:solidFill>
            <a:srgbClr val="D5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9B4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2927" y="6547104"/>
            <a:ext cx="1005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C6B7A"/>
                </a:solidFill>
                <a:latin typeface="Segoe UI"/>
              </a:rPr>
              <a:t>17/18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47104"/>
            <a:ext cx="2468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B7A"/>
                </a:solidFill>
                <a:latin typeface="Segoe UI"/>
              </a:rPr>
              <a:t>FRATELANZA · Building Tomorrow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10927080" cy="457200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قبل اعتماد السعر والجدول الزمني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إرسال ومراجعة جميع التقارير الحالية للشركة.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Mapping: Report → Data Source → Screen → KPI → Output.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اعتماد MVP و Phase 2 كتابةً.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تحديد ERP Integration ومصادر البيانات وطريقة Sync.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اعتماد User Roles / Permissions و UI/UX Prototype.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Acceptance Criteria لكل Milestone.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Warranty / Support / Maintenance بوضوح.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التسعير النهائي يُعتمد بعد إغلاق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66576" y="1143000"/>
            <a:ext cx="54864" cy="4572000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A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</a:rPr>
              <a:t>الخلاصة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EAED7"/>
                </a:solidFill>
                <a:latin typeface="Segoe UI"/>
              </a:rPr>
              <a:t>من متابعة المندوب إلى منظومة قرار متكاملة لقطاع الأدوية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3246120"/>
            <a:ext cx="9631375" cy="1920240"/>
          </a:xfrm>
          <a:prstGeom prst="roundRect">
            <a:avLst/>
          </a:prstGeom>
          <a:solidFill>
            <a:srgbClr val="F7FAFC"/>
          </a:solidFill>
          <a:ln w="9525">
            <a:solidFill>
              <a:srgbClr val="D5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109728"/>
          <a:lstStyle/>
          <a:p>
            <a:pPr algn="ctr"/>
            <a:r>
              <a:rPr sz="1500" b="1">
                <a:solidFill>
                  <a:srgbClr val="1669B4"/>
                </a:solidFill>
                <a:latin typeface="Segoe UI"/>
              </a:rPr>
              <a:t>القيمة النهائية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رؤية موحدة لأداء المندوبين والعملاء والأصناف.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بيانات موثوقة من الزيارة مع GPS و Evidence.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ربط التشغيل بالمبيعات والتحصيل والـ Sell-out.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>
                <a:solidFill>
                  <a:srgbClr val="1E2D3D"/>
                </a:solidFill>
                <a:latin typeface="Segoe UI"/>
              </a:rPr>
              <a:t>• Architecture قابلة للتوسع مع الـ ERP.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56671" y="3246120"/>
            <a:ext cx="54864" cy="1920240"/>
          </a:xfrm>
          <a:prstGeom prst="rect">
            <a:avLst/>
          </a:prstGeom>
          <a:solidFill>
            <a:srgbClr val="19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B8C2D"/>
                </a:solidFill>
                <a:latin typeface="Segoe UI"/>
              </a:rPr>
              <a:t>شكراً لثقتكم — الخطوة التالية: Discovery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EAED7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